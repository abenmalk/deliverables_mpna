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76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56" r:id="rId15"/>
    <p:sldId id="257" r:id="rId16"/>
    <p:sldId id="258" r:id="rId17"/>
    <p:sldId id="259" r:id="rId18"/>
    <p:sldId id="260" r:id="rId19"/>
    <p:sldId id="261" r:id="rId20"/>
    <p:sldId id="26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246" autoAdjust="0"/>
  </p:normalViewPr>
  <p:slideViewPr>
    <p:cSldViewPr snapToGrid="0" snapToObjects="1">
      <p:cViewPr varScale="1">
        <p:scale>
          <a:sx n="49" d="100"/>
          <a:sy n="49" d="100"/>
        </p:scale>
        <p:origin x="1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4213B-3DC5-4EB9-9902-5C4E654DFCCC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D80D9-0800-470F-AB55-EB7CDEE70F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32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2D02-0DB7-63E9-E49F-BC6391EC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F964D-B087-456F-1AEB-BFE4C1A2E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EF7CA-83B0-CE89-5CEF-B4876F4BC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5D393-44DA-AEC3-8D0F-C1EE8DEEB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009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6E45-8E65-EB32-0603-CB07E9BF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E6403-997A-5BAF-DA40-F3BE46F41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0F263-BC19-1855-5418-A3F5F512E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71E-5EF7-9BD0-CD17-F1290E4E2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5374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9A93-5C0E-145C-CE66-8CFFBE4B0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6B3F2-D3E5-DCD7-BE9B-CCF1771FC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D3F22-5E8E-45DC-50C1-909705A4F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81EFE-A934-8B81-DD6C-976664B13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82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4A91-4C17-A82E-F4BF-6D9624D0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58DB6-2B9A-71FC-6888-F91191612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BABB7-4486-3C20-269E-3777F7512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753BA-4C8A-1E13-81F8-E32D1BE78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737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BDA0-8770-AF2D-A9E3-B4DF07CE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43600-DAF2-316C-6B78-4FBFCC035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D726B-80B5-04C9-58F1-28B61839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953C7-6A8B-9DF8-5F56-D9AFBB878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882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FEA9-DA76-C7E2-76B0-97AD31BD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3D075-5507-4F49-68AE-A6E25E74A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24D2A-B926-3924-78AC-670FCCE6C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 de Données : 2-D Block-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Cyclic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matrice est découpée en blocs et répartie de façon cyclique sur une grille de processus $P \times Q$ pour équilibrer la charge de travail.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Factorisation LU "Right-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Utilise un variant qui privilégie les mises à jour à droite de la matrice avec un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pivotage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partiel par ligne pour assurer la stabilité numérique.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Optimisation de la Communication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Intègre des techniques de "look-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ahead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(anticipation) et différents types de topologies de diffusion (broadcast) pour masquer les temps de transfert entre processeurs.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Complexité et Performance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nombre d'opérations en virgule flottante est défini par la formule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D5D47-DC2E-CC54-9624-F643D9FFF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65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AC68-E901-D0E9-E993-F0F14397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B7BA2-11F8-8933-41C0-5D0F84102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C1A71-FC31-6042-3C7A-F6AF5F697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FC83E-70D4-9F6B-B01C-E3FEEE238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123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B127-D5F6-0A11-025C-DDA6F137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965B8-777D-2430-A749-CB2CFE9BE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59075-286C-3884-DC54-C465A415F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810B7-3CC4-F96D-5C90-08EE8ED10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263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B337-A30C-182D-496F-637F1FBA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2BB17-A3F7-A949-AA44-A14D1D430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F8033-43E2-98C5-B0AA-FDDF91037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E4BC1-5771-D036-AD39-357122C40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984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6661-C2C7-7D23-C1C7-E5A1D9AD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20E1B-2B34-600E-0AAE-F6ABD47E0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91F40-CDD1-9F57-DEBE-363BEBCC9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58418-68C3-F4BD-D3EE-DCF97C3DC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06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8268-4005-43F1-350B-73DBCC40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DB73A-B982-7DDB-2CDB-26BB33DAE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AD173-7FDB-4F2E-B6A8-835DFF9A9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004C0-4A64-2124-B738-8C41EDD7B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862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D3AE-D6F8-FDF3-A38A-DAD9F9CA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88305-F9D7-C9E8-D10F-71D78CC76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27846-6188-E490-FF1C-012472702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CC152-BB02-E067-D347-9E91120C2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80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BF4D-DC2D-862F-D972-809D82E0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9ADE7-B740-10F5-0706-7828D480B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8118-7EFA-A9E0-3084-1A47A3641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88974-7F49-2C14-AA6C-E105B639B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741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nos expériences, nous avons utilisé un laptop ASUS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Zephyrus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G14 équipé d'un processeur AMD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Ryzen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4900HS à 8 cœurs et 32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gigaoctets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RAM.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système tourne sous Ubuntu via WSL2, la couche de compatibilité Linux de Windows. Pour la parallélisation, nous utilisons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OpenMPI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pour les opérations d'algèbre linéaire, la bibliothèque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OpenBLAS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Côté paramètres HPL, nous avons configuré une taille de bloc NB de 192 et une grille de processus de 2 par 4, ce qui nous donne 8 processus MPI au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39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 le tableau récapitulatif de nos trois expériences.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N égal à 10 000, nous obtenons 15.7 GFLOPS en environ 42 secondes. C'est notre point de référence.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doublant la taille du problème à N égal 20 000, la performance fait un bond significatif à 41 GFLOPS - c'est presque trois fois mieux. Le temps d'exécution passe à environ 2 minutes.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N égal 30 000, on observe une légère baisse à 38.2 GFLOPS, malgré un temps d'exécution de près de 8 minutes.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 important : tous les tests ont passé la vérification du résidu, ce qui confirme la validité numérique de nos résultats. Le benchmark affiche 'PASSED' pour les trois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099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graphique illustre l'évolution des GFLOPS en fonction de la taille du problème N.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observe clairement deux tendances. D'abord, une augmentation significative entre N égal 10K et 20K. C'est le comportement attendu : avec un problème plus grand, le ratio calcul sur communication s'améliore. Les processus passent plus de temps à calculer qu'à échanger des données.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Ensuite, une légère baisse à N égal 30K. Cette diminution s'explique par le thermal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throttling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 CPU du laptop a réduit automatiquement sa fréquence après 8 minutes de calcul intensif pour éviter la surchauffe. C'est une limitation physique de notre plateforme de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549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Analysons maintenant l'efficacité de notre benchmark.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pic théorique de notre processeur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Ryzen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est estimé à environ 400 GFLOPS. Notre meilleure performance de 41 GFLOPS représente donc une efficacité d'environ 10%.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efficacité relativement faible s'explique par plusieurs facteurs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Premièrement, WSL2 ajoute une couche de virtualisation qui introduit de l'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Deuxièmement,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OpenBLAS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n'est pas aussi optimisé qu'Intel MKL pour ce type de processeur.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Troisièmement, un laptop a des limitations thermiques importantes comparé à un serveur HPC correctement refroidi.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référence, sur un vrai cluster HPC, on attend généralement une efficacité entre 70 et 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112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Résumons nos principales observations.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qui fonctionne bien : la performance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correctement avec la taille du problème, jusqu'aux limites thermiques. Tous nos tests passent la validation numérique, les résultats sont donc fiables. Et nos expériences sont reproductibles.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limites de notre configuration incluent : la virtualisation WSL qui ajoute de l'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 refroidissement limité d'un laptop qui cause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throttling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après quelques minutes, et l'utilisation d'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OpenBLAS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n'est pas optimisé pour notre processeur AMD.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améliorer ces résultats, il faudrait utiliser un cluster HPC dédié avec un refroidissement adapté, et des bibliothèques optimisées comme Intel MKL ou AMD BLIS.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788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conclusion, nous avons démontré que HPL mesure efficacement la performance de calcul d'un système en termes de GFLOPS.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avons validé le benchmark sur notre plateforme avec des résultats cohérents et vérifiés numériquement.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tendance des GFLOPS avec N confirme la théorie : un meilleur ratio calcul-communication avec des problèmes plus grands, jusqu'aux limites thermiques du matériel.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de votre attention. Je suis disponible pour répondre à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D80D9-0800-470F-AB55-EB7CDEE70FF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03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444D-5CCF-6395-DF97-3759B3AD7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C13978-2786-9F2C-FEAE-FC27E9AD88EB}"/>
              </a:ext>
            </a:extLst>
          </p:cNvPr>
          <p:cNvSpPr/>
          <p:nvPr/>
        </p:nvSpPr>
        <p:spPr>
          <a:xfrm>
            <a:off x="305" y="0"/>
            <a:ext cx="12191695" cy="5721531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/>
              <a:t>Benchmark HPL : Analyse et Résultats</a:t>
            </a:r>
            <a:endParaRPr sz="5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AA547-134A-4F72-B0F4-675D1ED9A88B}"/>
              </a:ext>
            </a:extLst>
          </p:cNvPr>
          <p:cNvSpPr txBox="1"/>
          <p:nvPr/>
        </p:nvSpPr>
        <p:spPr>
          <a:xfrm>
            <a:off x="574766" y="5896374"/>
            <a:ext cx="24386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AF"/>
                </a:solidFill>
              </a:defRPr>
            </a:pP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Benmalk • B</a:t>
            </a:r>
            <a:r>
              <a:rPr lang="fr-FR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ezine</a:t>
            </a:r>
            <a:endParaRPr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100">
                <a:solidFill>
                  <a:srgbClr val="B4B4AF"/>
                </a:solidFill>
              </a:defRPr>
            </a:pPr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M2 MSCHP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• </a:t>
            </a:r>
            <a:r>
              <a:rPr lang="en-GB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MPNA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176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4714-C280-7FD9-5CC8-FCAA2AA3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16AE2B-7718-C11C-53EF-AA9220FDB5F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C28D3-8C77-A1E0-A4C0-696AFB2F5F4A}"/>
              </a:ext>
            </a:extLst>
          </p:cNvPr>
          <p:cNvSpPr txBox="1"/>
          <p:nvPr/>
        </p:nvSpPr>
        <p:spPr>
          <a:xfrm>
            <a:off x="457200" y="274320"/>
            <a:ext cx="9252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Plan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E099E-5716-E1D2-92A0-A8CEE46D3B5F}"/>
              </a:ext>
            </a:extLst>
          </p:cNvPr>
          <p:cNvSpPr txBox="1"/>
          <p:nvPr/>
        </p:nvSpPr>
        <p:spPr>
          <a:xfrm>
            <a:off x="457200" y="1876680"/>
            <a:ext cx="11277295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b="1" dirty="0"/>
              <a:t>Qu'est-ce qu'un Benchmark ?</a:t>
            </a:r>
            <a:endParaRPr lang="fr-FR" sz="28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b="1" dirty="0"/>
              <a:t>Les Propriétés d'un Bon Benchmark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b="1" dirty="0"/>
              <a:t>HPL : High Performance </a:t>
            </a:r>
            <a:r>
              <a:rPr lang="fr-FR" sz="2800" b="1" dirty="0" err="1"/>
              <a:t>Linpack</a:t>
            </a:r>
            <a:endParaRPr lang="fr-FR" sz="2800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endParaRPr lang="fr-FR" sz="2800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dirty="0"/>
              <a:t>Configuration Expérimentale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dirty="0"/>
              <a:t>R</a:t>
            </a:r>
            <a:r>
              <a:rPr lang="fr-FR" sz="2800" b="1" dirty="0"/>
              <a:t>é</a:t>
            </a:r>
            <a:r>
              <a:rPr lang="fr-FR" sz="2800" dirty="0"/>
              <a:t>sultats des Exp</a:t>
            </a:r>
            <a:r>
              <a:rPr lang="fr-FR" sz="2800" b="1" dirty="0"/>
              <a:t>é</a:t>
            </a:r>
            <a:r>
              <a:rPr lang="fr-FR" sz="2800" dirty="0"/>
              <a:t>riences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dirty="0"/>
              <a:t>Analyse de l'Efficacit</a:t>
            </a:r>
            <a:r>
              <a:rPr lang="fr-FR" sz="2800" b="1" dirty="0"/>
              <a:t>é</a:t>
            </a:r>
            <a:endParaRPr lang="fr-FR" sz="28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 b="1"/>
            </a:pPr>
            <a:r>
              <a:rPr lang="fr-FR" sz="2800" dirty="0"/>
              <a:t>Observations et Limites</a:t>
            </a:r>
          </a:p>
        </p:txBody>
      </p:sp>
    </p:spTree>
    <p:extLst>
      <p:ext uri="{BB962C8B-B14F-4D97-AF65-F5344CB8AC3E}">
        <p14:creationId xmlns:p14="http://schemas.microsoft.com/office/powerpoint/2010/main" val="212601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072D-5DDC-4D87-C3AA-BADDE364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4E60F-5E92-A981-C601-884138B6E43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66CB2-8CE6-5643-7CCF-6A89E1FD1235}"/>
              </a:ext>
            </a:extLst>
          </p:cNvPr>
          <p:cNvSpPr txBox="1"/>
          <p:nvPr/>
        </p:nvSpPr>
        <p:spPr>
          <a:xfrm>
            <a:off x="457200" y="274320"/>
            <a:ext cx="51653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Qu'est-ce qu'un Benchmark ?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0CF39-E815-9FD9-5A42-9A607AA815CE}"/>
              </a:ext>
            </a:extLst>
          </p:cNvPr>
          <p:cNvSpPr txBox="1"/>
          <p:nvPr/>
        </p:nvSpPr>
        <p:spPr>
          <a:xfrm>
            <a:off x="457199" y="2751891"/>
            <a:ext cx="1127729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rPr lang="fr-FR" dirty="0"/>
              <a:t>Un benchmark est un test standardisé ou un problème de référence utilisé pour évaluer et comparer les performances d'un système informatique. </a:t>
            </a:r>
          </a:p>
          <a:p>
            <a:pPr>
              <a:spcAft>
                <a:spcPts val="600"/>
              </a:spcAft>
              <a:defRPr sz="1800" b="1"/>
            </a:pPr>
            <a:endParaRPr lang="fr-FR" dirty="0"/>
          </a:p>
          <a:p>
            <a:pPr>
              <a:spcAft>
                <a:spcPts val="600"/>
              </a:spcAft>
              <a:defRPr sz="1800" b="1"/>
            </a:pPr>
            <a:r>
              <a:rPr lang="fr-FR" dirty="0"/>
              <a:t>C'est une mesure qui sert de base pour situer les capacités d'une machine par rapport à d'autres.</a:t>
            </a:r>
          </a:p>
        </p:txBody>
      </p:sp>
    </p:spTree>
    <p:extLst>
      <p:ext uri="{BB962C8B-B14F-4D97-AF65-F5344CB8AC3E}">
        <p14:creationId xmlns:p14="http://schemas.microsoft.com/office/powerpoint/2010/main" val="11254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C7F75-E225-5A59-A33F-F8D5BB7A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192708-792F-D0ED-CB60-9526E089019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6D0F0-F1E6-6DE1-5F76-39D911371202}"/>
              </a:ext>
            </a:extLst>
          </p:cNvPr>
          <p:cNvSpPr txBox="1"/>
          <p:nvPr/>
        </p:nvSpPr>
        <p:spPr>
          <a:xfrm>
            <a:off x="457200" y="274320"/>
            <a:ext cx="62119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Les Propriétés d'un Bon Benchmark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2FB59-16E7-BD35-A8F8-E8E45EA4648F}"/>
              </a:ext>
            </a:extLst>
          </p:cNvPr>
          <p:cNvSpPr txBox="1"/>
          <p:nvPr/>
        </p:nvSpPr>
        <p:spPr>
          <a:xfrm>
            <a:off x="800244" y="1957536"/>
            <a:ext cx="480753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600" b="1" dirty="0"/>
              <a:t>Pertinence et Spécificité</a:t>
            </a:r>
            <a:endParaRPr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CD21D-DABD-1264-9282-07DB646709DA}"/>
              </a:ext>
            </a:extLst>
          </p:cNvPr>
          <p:cNvSpPr txBox="1"/>
          <p:nvPr/>
        </p:nvSpPr>
        <p:spPr>
          <a:xfrm>
            <a:off x="1690176" y="2591193"/>
            <a:ext cx="3200400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1600" dirty="0"/>
              <a:t>doit être lié à un domaine précis</a:t>
            </a:r>
            <a:endParaRPr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F7184-34E6-108C-32D2-D7A9533CB62F}"/>
              </a:ext>
            </a:extLst>
          </p:cNvPr>
          <p:cNvSpPr txBox="1"/>
          <p:nvPr/>
        </p:nvSpPr>
        <p:spPr>
          <a:xfrm>
            <a:off x="6095847" y="1743202"/>
            <a:ext cx="540006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600" b="1" dirty="0">
                <a:solidFill>
                  <a:srgbClr val="FF6B35"/>
                </a:solidFill>
              </a:rPr>
              <a:t>Représentativité</a:t>
            </a:r>
            <a:r>
              <a:rPr lang="fr-FR" sz="5400" b="1" dirty="0"/>
              <a:t> </a:t>
            </a:r>
            <a:r>
              <a:rPr lang="fr-FR" sz="3600" b="1" dirty="0">
                <a:solidFill>
                  <a:srgbClr val="FF6B35"/>
                </a:solidFill>
              </a:rPr>
              <a:t>du</a:t>
            </a:r>
            <a:r>
              <a:rPr lang="fr-FR" sz="5400" b="1" dirty="0"/>
              <a:t> </a:t>
            </a:r>
            <a:r>
              <a:rPr lang="fr-FR" sz="3600" b="1" dirty="0">
                <a:solidFill>
                  <a:srgbClr val="FF6B35"/>
                </a:solidFill>
              </a:rPr>
              <a:t>Travail</a:t>
            </a:r>
            <a:endParaRPr sz="3600" b="1" dirty="0">
              <a:solidFill>
                <a:srgbClr val="FF6B3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DE2F3-36D4-31EE-9981-7B0F2DEC9A15}"/>
              </a:ext>
            </a:extLst>
          </p:cNvPr>
          <p:cNvSpPr txBox="1"/>
          <p:nvPr/>
        </p:nvSpPr>
        <p:spPr>
          <a:xfrm>
            <a:off x="6899415" y="2592434"/>
            <a:ext cx="3794298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1600" dirty="0"/>
              <a:t>doit être significatif dans son domaine cible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BF717-9035-1CC0-80E6-3C679A3C2F6D}"/>
              </a:ext>
            </a:extLst>
          </p:cNvPr>
          <p:cNvSpPr txBox="1"/>
          <p:nvPr/>
        </p:nvSpPr>
        <p:spPr>
          <a:xfrm>
            <a:off x="1281429" y="4654288"/>
            <a:ext cx="4017895" cy="66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1600" dirty="0"/>
              <a:t>permet une évaluation comparative entre différents matériels ou architectures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6FD7A-9C28-8234-203C-F295AC39AE54}"/>
              </a:ext>
            </a:extLst>
          </p:cNvPr>
          <p:cNvSpPr txBox="1"/>
          <p:nvPr/>
        </p:nvSpPr>
        <p:spPr>
          <a:xfrm>
            <a:off x="6292951" y="4706711"/>
            <a:ext cx="5003719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1600" dirty="0"/>
              <a:t>doit pouvoir s'appliquer à un large spectre de puissances</a:t>
            </a:r>
            <a:endParaRPr sz="1600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C6DF655-D8F6-9003-31E8-FEC5E0E303F7}"/>
              </a:ext>
            </a:extLst>
          </p:cNvPr>
          <p:cNvSpPr txBox="1"/>
          <p:nvPr/>
        </p:nvSpPr>
        <p:spPr>
          <a:xfrm>
            <a:off x="895330" y="3783381"/>
            <a:ext cx="479009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600" b="1" dirty="0">
                <a:solidFill>
                  <a:srgbClr val="FF6B35"/>
                </a:solidFill>
              </a:rPr>
              <a:t>Évaluation</a:t>
            </a:r>
            <a:r>
              <a:rPr lang="fr-FR" sz="5400" b="1" dirty="0"/>
              <a:t> </a:t>
            </a:r>
            <a:r>
              <a:rPr lang="fr-FR" sz="3600" b="1" dirty="0">
                <a:solidFill>
                  <a:srgbClr val="FF6B35"/>
                </a:solidFill>
              </a:rPr>
              <a:t>Comparative</a:t>
            </a:r>
            <a:endParaRPr sz="3600" b="1" dirty="0">
              <a:solidFill>
                <a:srgbClr val="FF6B35"/>
              </a:solidFill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8E32EC01-B55A-4C28-54ED-479FD0C271D8}"/>
              </a:ext>
            </a:extLst>
          </p:cNvPr>
          <p:cNvSpPr txBox="1"/>
          <p:nvPr/>
        </p:nvSpPr>
        <p:spPr>
          <a:xfrm>
            <a:off x="7724805" y="3994856"/>
            <a:ext cx="21400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600" b="1" dirty="0"/>
              <a:t>Scalabilité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082108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E6B3-60B6-C740-5679-0342E7D6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F2DE6C-E206-4A4A-1596-A54CB05E013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ECF4C-C84A-5F9C-6970-038923F2F316}"/>
              </a:ext>
            </a:extLst>
          </p:cNvPr>
          <p:cNvSpPr txBox="1"/>
          <p:nvPr/>
        </p:nvSpPr>
        <p:spPr>
          <a:xfrm>
            <a:off x="457200" y="274320"/>
            <a:ext cx="55675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HPL : High Performance </a:t>
            </a:r>
            <a:r>
              <a:rPr lang="fr-FR" sz="3200" b="1" dirty="0" err="1"/>
              <a:t>Linpack</a:t>
            </a:r>
            <a:endParaRPr lang="fr-FR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37E5F-E56B-BCB1-AF66-9BAD61BA269B}"/>
              </a:ext>
            </a:extLst>
          </p:cNvPr>
          <p:cNvSpPr/>
          <p:nvPr/>
        </p:nvSpPr>
        <p:spPr>
          <a:xfrm>
            <a:off x="548639" y="1645920"/>
            <a:ext cx="11207931" cy="1744009"/>
          </a:xfrm>
          <a:prstGeom prst="rect">
            <a:avLst/>
          </a:prstGeom>
          <a:solidFill>
            <a:srgbClr val="14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D0B33-9A5E-A344-A6B4-CB234DAE229C}"/>
              </a:ext>
            </a:extLst>
          </p:cNvPr>
          <p:cNvSpPr txBox="1"/>
          <p:nvPr/>
        </p:nvSpPr>
        <p:spPr>
          <a:xfrm>
            <a:off x="1142467" y="3914207"/>
            <a:ext cx="10091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rPr lang="fr-FR" sz="1600" b="1" dirty="0"/>
              <a:t>créé par Jack </a:t>
            </a:r>
            <a:r>
              <a:rPr lang="fr-FR" sz="1600" b="1" dirty="0" err="1"/>
              <a:t>Dongarra</a:t>
            </a:r>
            <a:r>
              <a:rPr lang="fr-FR" sz="1600" b="1" dirty="0"/>
              <a:t>, il repose sur la bibliothèque de calcul linéaire LINPACK, aujourd'hui évoluée vers LAPACK.</a:t>
            </a:r>
            <a:endParaRPr dirty="0"/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BECB929D-FA53-1FE2-5F31-75E7E9EEFCF3}"/>
              </a:ext>
            </a:extLst>
          </p:cNvPr>
          <p:cNvSpPr/>
          <p:nvPr/>
        </p:nvSpPr>
        <p:spPr>
          <a:xfrm>
            <a:off x="778546" y="4836018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F2C7F-C06E-A891-698D-9DBD28F0EA77}"/>
              </a:ext>
            </a:extLst>
          </p:cNvPr>
          <p:cNvSpPr txBox="1"/>
          <p:nvPr/>
        </p:nvSpPr>
        <p:spPr>
          <a:xfrm>
            <a:off x="1142466" y="4592001"/>
            <a:ext cx="99609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rPr lang="fr-FR" sz="1600" b="1" dirty="0"/>
              <a:t>utilise la décomposition LU avec </a:t>
            </a:r>
            <a:r>
              <a:rPr lang="fr-FR" sz="1600" b="1" dirty="0" err="1"/>
              <a:t>pivotage</a:t>
            </a:r>
            <a:r>
              <a:rPr lang="fr-FR" sz="1600" b="1" dirty="0"/>
              <a:t> partiel sur des matrices générées de manière pseudo-aléatoire.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22AB26-21BE-87B5-05DB-C4B51BF7D02D}"/>
              </a:ext>
            </a:extLst>
          </p:cNvPr>
          <p:cNvSpPr txBox="1"/>
          <p:nvPr/>
        </p:nvSpPr>
        <p:spPr>
          <a:xfrm>
            <a:off x="1142467" y="5386462"/>
            <a:ext cx="9843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rPr lang="fr-FR" sz="1600" b="1" dirty="0"/>
              <a:t>fournit une estimation précise de la performance réelle en virgule flottante (FLOPS) du système.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326E8F6-22A2-D89F-5385-BA4C93C216E9}"/>
              </a:ext>
            </a:extLst>
          </p:cNvPr>
          <p:cNvSpPr/>
          <p:nvPr/>
        </p:nvSpPr>
        <p:spPr>
          <a:xfrm>
            <a:off x="786384" y="6315287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0B5457-FFC6-7124-B9FB-5134F8A3A634}"/>
              </a:ext>
            </a:extLst>
          </p:cNvPr>
          <p:cNvSpPr txBox="1"/>
          <p:nvPr/>
        </p:nvSpPr>
        <p:spPr>
          <a:xfrm>
            <a:off x="1142467" y="6132627"/>
            <a:ext cx="10091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rPr lang="fr-FR" sz="1600" b="1" dirty="0"/>
              <a:t>mesure l'efficacité du processeur et de la mémoire sans refléter la performance globale sur toutes les applications.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CEA1F-7B5A-BDC3-838B-D444DC840A3C}"/>
              </a:ext>
            </a:extLst>
          </p:cNvPr>
          <p:cNvSpPr txBox="1"/>
          <p:nvPr/>
        </p:nvSpPr>
        <p:spPr>
          <a:xfrm>
            <a:off x="914400" y="1828800"/>
            <a:ext cx="10189028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FAF8F5"/>
                </a:solidFill>
              </a:defRPr>
            </a:pPr>
            <a:r>
              <a:rPr lang="fr-FR" sz="2000" dirty="0"/>
              <a:t>HPL est un logiciel de référence qui résout un système d'équations linéaires dense </a:t>
            </a:r>
            <a:r>
              <a:rPr lang="fr-FR" sz="2000" i="1" dirty="0"/>
              <a:t>(Ax = b)</a:t>
            </a:r>
            <a:r>
              <a:rPr lang="fr-FR" sz="2000" dirty="0"/>
              <a:t> pour mesurer la puissance de calcul brute d'un ordinateur. Il est le standard utilisé pour classer les supercalculateurs du </a:t>
            </a:r>
            <a:r>
              <a:rPr lang="fr-FR" sz="2000" b="1" dirty="0"/>
              <a:t>TOP500</a:t>
            </a:r>
            <a:r>
              <a:rPr lang="fr-FR" sz="2000" dirty="0"/>
              <a:t>.</a:t>
            </a:r>
            <a:endParaRPr dirty="0"/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E5A2B210-4335-C1AC-D934-10320C41765A}"/>
              </a:ext>
            </a:extLst>
          </p:cNvPr>
          <p:cNvSpPr/>
          <p:nvPr/>
        </p:nvSpPr>
        <p:spPr>
          <a:xfrm>
            <a:off x="786384" y="4136502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3">
            <a:extLst>
              <a:ext uri="{FF2B5EF4-FFF2-40B4-BE49-F238E27FC236}">
                <a16:creationId xmlns:a16="http://schemas.microsoft.com/office/drawing/2014/main" id="{65C696AA-3A09-5358-23CB-92E75EC69E7A}"/>
              </a:ext>
            </a:extLst>
          </p:cNvPr>
          <p:cNvSpPr/>
          <p:nvPr/>
        </p:nvSpPr>
        <p:spPr>
          <a:xfrm>
            <a:off x="786384" y="5569121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1865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306B-8BB1-B547-6FAA-EBAAF6BC8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AA2FBF-7129-590A-37C8-0452E6479DA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846C0-611A-AD14-231A-A4C939CD4ED2}"/>
              </a:ext>
            </a:extLst>
          </p:cNvPr>
          <p:cNvSpPr txBox="1"/>
          <p:nvPr/>
        </p:nvSpPr>
        <p:spPr>
          <a:xfrm>
            <a:off x="457200" y="274320"/>
            <a:ext cx="3116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Les Piliers de HPL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D0A93-1D51-583E-0122-43DA3BB9D441}"/>
              </a:ext>
            </a:extLst>
          </p:cNvPr>
          <p:cNvSpPr txBox="1"/>
          <p:nvPr/>
        </p:nvSpPr>
        <p:spPr>
          <a:xfrm>
            <a:off x="568389" y="956824"/>
            <a:ext cx="69000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Distribution</a:t>
            </a:r>
            <a:r>
              <a:rPr lang="fr-FR" sz="4400" b="1" dirty="0"/>
              <a:t> </a:t>
            </a:r>
            <a:r>
              <a:rPr lang="fr-FR" sz="3000" b="1" dirty="0">
                <a:solidFill>
                  <a:srgbClr val="FF6B35"/>
                </a:solidFill>
              </a:rPr>
              <a:t>de Données : 2-D Block-</a:t>
            </a:r>
            <a:r>
              <a:rPr lang="fr-FR" sz="3000" b="1" dirty="0" err="1">
                <a:solidFill>
                  <a:srgbClr val="FF6B35"/>
                </a:solidFill>
              </a:rPr>
              <a:t>Cyclic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19B84-4B8C-9808-34D9-84945B101515}"/>
              </a:ext>
            </a:extLst>
          </p:cNvPr>
          <p:cNvSpPr txBox="1"/>
          <p:nvPr/>
        </p:nvSpPr>
        <p:spPr>
          <a:xfrm>
            <a:off x="596282" y="1560706"/>
            <a:ext cx="10999436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2000" dirty="0"/>
              <a:t>La matrice est découpée en blocs et répartie de façon cyclique sur une grille de processus </a:t>
            </a:r>
            <a:r>
              <a:rPr lang="fr-FR" sz="2000" i="1" dirty="0"/>
              <a:t>P x Q</a:t>
            </a:r>
            <a:r>
              <a:rPr lang="fr-FR" sz="2000" dirty="0"/>
              <a:t> pour équilibrer la charge de travail.</a:t>
            </a:r>
            <a:endParaRPr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06680C-2175-2BB6-F18B-B8387541071D}"/>
              </a:ext>
            </a:extLst>
          </p:cNvPr>
          <p:cNvSpPr txBox="1"/>
          <p:nvPr/>
        </p:nvSpPr>
        <p:spPr>
          <a:xfrm>
            <a:off x="596282" y="2555151"/>
            <a:ext cx="535236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Factorisation LU "Right-</a:t>
            </a:r>
            <a:r>
              <a:rPr lang="fr-FR" sz="3000" b="1" dirty="0" err="1">
                <a:solidFill>
                  <a:srgbClr val="FF6B35"/>
                </a:solidFill>
              </a:rPr>
              <a:t>Looking</a:t>
            </a:r>
            <a:r>
              <a:rPr lang="fr-FR" sz="3000" b="1" dirty="0">
                <a:solidFill>
                  <a:srgbClr val="FF6B35"/>
                </a:solidFill>
              </a:rPr>
              <a:t>"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89867-DBAF-A897-6E0F-A3B2139A46FB}"/>
              </a:ext>
            </a:extLst>
          </p:cNvPr>
          <p:cNvSpPr txBox="1"/>
          <p:nvPr/>
        </p:nvSpPr>
        <p:spPr>
          <a:xfrm>
            <a:off x="596282" y="3052057"/>
            <a:ext cx="10999436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2000" dirty="0">
                <a:solidFill>
                  <a:srgbClr val="282828"/>
                </a:solidFill>
              </a:rPr>
              <a:t>Utilise un variant qui privilégie les mises à jour à droite de la matrice avec un </a:t>
            </a:r>
            <a:r>
              <a:rPr lang="fr-FR" sz="2000" dirty="0" err="1">
                <a:solidFill>
                  <a:srgbClr val="282828"/>
                </a:solidFill>
              </a:rPr>
              <a:t>pivotage</a:t>
            </a:r>
            <a:r>
              <a:rPr lang="fr-FR" sz="2000" dirty="0">
                <a:solidFill>
                  <a:srgbClr val="282828"/>
                </a:solidFill>
              </a:rPr>
              <a:t> partiel par ligne pour assurer la stabilité numérique.</a:t>
            </a:r>
            <a:endParaRPr sz="2000" dirty="0">
              <a:solidFill>
                <a:srgbClr val="28282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928EA3-FA6B-B305-BAFD-3C94E90690C8}"/>
              </a:ext>
            </a:extLst>
          </p:cNvPr>
          <p:cNvSpPr txBox="1"/>
          <p:nvPr/>
        </p:nvSpPr>
        <p:spPr>
          <a:xfrm>
            <a:off x="596282" y="4558537"/>
            <a:ext cx="10999436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282828"/>
                </a:solidFill>
              </a:defRPr>
            </a:pPr>
            <a:r>
              <a:rPr lang="fr-FR" sz="2000" dirty="0">
                <a:solidFill>
                  <a:srgbClr val="282828"/>
                </a:solidFill>
              </a:rPr>
              <a:t>Intègre des techniques de "look-</a:t>
            </a:r>
            <a:r>
              <a:rPr lang="fr-FR" sz="2000" dirty="0" err="1">
                <a:solidFill>
                  <a:srgbClr val="282828"/>
                </a:solidFill>
              </a:rPr>
              <a:t>ahead</a:t>
            </a:r>
            <a:r>
              <a:rPr lang="fr-FR" sz="2000" dirty="0">
                <a:solidFill>
                  <a:srgbClr val="282828"/>
                </a:solidFill>
              </a:rPr>
              <a:t>" (anticipation) et différents types de topologies de diffusion (broadcast) pour masquer les temps de transfert entre processeurs</a:t>
            </a:r>
            <a:r>
              <a:rPr lang="fr-FR" sz="1300" dirty="0"/>
              <a:t>.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FD29EE-1B71-79BA-7774-987F1FB4C1A8}"/>
                  </a:ext>
                </a:extLst>
              </p:cNvPr>
              <p:cNvSpPr txBox="1"/>
              <p:nvPr/>
            </p:nvSpPr>
            <p:spPr>
              <a:xfrm>
                <a:off x="596402" y="5920228"/>
                <a:ext cx="10999316" cy="5947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 sz="1300">
                    <a:solidFill>
                      <a:srgbClr val="282828"/>
                    </a:solidFill>
                  </a:defRPr>
                </a:pPr>
                <a:r>
                  <a:rPr lang="fr-FR" sz="2000" dirty="0">
                    <a:solidFill>
                      <a:srgbClr val="282828"/>
                    </a:solidFill>
                  </a:rPr>
                  <a:t>Le nombre d'opérations en virgule flottante est défini par la formule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fr-FR" sz="200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fr-FR" sz="2000">
                        <a:solidFill>
                          <a:srgbClr val="2828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sz="2000" i="1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fr-FR" sz="200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FR" sz="2000" dirty="0">
                    <a:solidFill>
                      <a:srgbClr val="282828"/>
                    </a:solidFill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fr-FR" sz="200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000" dirty="0">
                  <a:solidFill>
                    <a:srgbClr val="282828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FD29EE-1B71-79BA-7774-987F1FB4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02" y="5920228"/>
                <a:ext cx="10999316" cy="594778"/>
              </a:xfrm>
              <a:prstGeom prst="rect">
                <a:avLst/>
              </a:prstGeom>
              <a:blipFill>
                <a:blip r:embed="rId3"/>
                <a:stretch>
                  <a:fillRect l="-610" b="-61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5">
            <a:extLst>
              <a:ext uri="{FF2B5EF4-FFF2-40B4-BE49-F238E27FC236}">
                <a16:creationId xmlns:a16="http://schemas.microsoft.com/office/drawing/2014/main" id="{16CA270A-2D0A-4F98-FD60-5024E3A15F06}"/>
              </a:ext>
            </a:extLst>
          </p:cNvPr>
          <p:cNvSpPr txBox="1"/>
          <p:nvPr/>
        </p:nvSpPr>
        <p:spPr>
          <a:xfrm>
            <a:off x="547381" y="3809254"/>
            <a:ext cx="57794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Optimisation</a:t>
            </a:r>
            <a:r>
              <a:rPr lang="fr-FR" sz="4400" b="1" dirty="0"/>
              <a:t> </a:t>
            </a:r>
            <a:r>
              <a:rPr lang="fr-FR" sz="3000" b="1" dirty="0">
                <a:solidFill>
                  <a:srgbClr val="FF6B35"/>
                </a:solidFill>
              </a:rPr>
              <a:t>de la Communication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A3FD03B6-6E12-4DC2-8039-F27941DFD931}"/>
              </a:ext>
            </a:extLst>
          </p:cNvPr>
          <p:cNvSpPr txBox="1"/>
          <p:nvPr/>
        </p:nvSpPr>
        <p:spPr>
          <a:xfrm>
            <a:off x="547499" y="5474045"/>
            <a:ext cx="45386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Complexité et Performance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F1C48E82-092C-1CC3-3D8C-0A42C72D1975}"/>
              </a:ext>
            </a:extLst>
          </p:cNvPr>
          <p:cNvSpPr/>
          <p:nvPr/>
        </p:nvSpPr>
        <p:spPr>
          <a:xfrm>
            <a:off x="441519" y="1342718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C35C14AC-AF6B-EA6E-8F47-353C5B4DEC59}"/>
              </a:ext>
            </a:extLst>
          </p:cNvPr>
          <p:cNvSpPr/>
          <p:nvPr/>
        </p:nvSpPr>
        <p:spPr>
          <a:xfrm>
            <a:off x="437771" y="2777286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E2C0D2BA-A8F9-095C-F77E-DE5465477435}"/>
              </a:ext>
            </a:extLst>
          </p:cNvPr>
          <p:cNvSpPr/>
          <p:nvPr/>
        </p:nvSpPr>
        <p:spPr>
          <a:xfrm>
            <a:off x="441519" y="5704765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2798C8DD-A344-8578-C517-0762064EB83F}"/>
              </a:ext>
            </a:extLst>
          </p:cNvPr>
          <p:cNvSpPr/>
          <p:nvPr/>
        </p:nvSpPr>
        <p:spPr>
          <a:xfrm>
            <a:off x="437653" y="4193975"/>
            <a:ext cx="109728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8979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4E63-9CC0-113D-7ACC-B379AD6C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562F2-B042-5C06-3B91-01DCD3B1E11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8111C-8B53-2E37-2843-DB7F97257C4E}"/>
              </a:ext>
            </a:extLst>
          </p:cNvPr>
          <p:cNvSpPr txBox="1"/>
          <p:nvPr/>
        </p:nvSpPr>
        <p:spPr>
          <a:xfrm>
            <a:off x="457200" y="274320"/>
            <a:ext cx="40362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Les paramètres de HPL</a:t>
            </a:r>
          </a:p>
        </p:txBody>
      </p:sp>
      <p:pic>
        <p:nvPicPr>
          <p:cNvPr id="4" name="Image 22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F042D925-A6F0-DD93-EAE5-1343C5C7B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53" y="1499001"/>
            <a:ext cx="10742893" cy="488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01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619A-3D1D-59E9-57D1-161C8E69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5572B5-F174-82DF-F9E7-C43A1EF5087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11D56-B2B8-65F5-625F-690B8EDF15A1}"/>
              </a:ext>
            </a:extLst>
          </p:cNvPr>
          <p:cNvSpPr txBox="1"/>
          <p:nvPr/>
        </p:nvSpPr>
        <p:spPr>
          <a:xfrm>
            <a:off x="457200" y="274320"/>
            <a:ext cx="52719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Les étapes d’exécution de HPL</a:t>
            </a:r>
          </a:p>
        </p:txBody>
      </p:sp>
      <p:pic>
        <p:nvPicPr>
          <p:cNvPr id="5" name="Image 13" descr="Une image contenant diagramme, croquis, dessin, texte&#10;&#10;Le contenu généré par l’IA peut être incorrect.">
            <a:extLst>
              <a:ext uri="{FF2B5EF4-FFF2-40B4-BE49-F238E27FC236}">
                <a16:creationId xmlns:a16="http://schemas.microsoft.com/office/drawing/2014/main" id="{3C6F3CCC-4FDE-5424-9E89-314F9041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80" y="1254034"/>
            <a:ext cx="10565239" cy="559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6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C69F-9B3D-F816-6872-9AB1DEE4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6E368-7034-E031-920E-38E9D106B7C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63042-5504-1346-C8CA-498FD69AFB52}"/>
              </a:ext>
            </a:extLst>
          </p:cNvPr>
          <p:cNvSpPr txBox="1"/>
          <p:nvPr/>
        </p:nvSpPr>
        <p:spPr>
          <a:xfrm>
            <a:off x="457200" y="274320"/>
            <a:ext cx="1723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Example </a:t>
            </a:r>
          </a:p>
        </p:txBody>
      </p:sp>
      <p:pic>
        <p:nvPicPr>
          <p:cNvPr id="4" name="Image 7" descr="Une image contenant texte, Police, blanc, ligne&#10;&#10;Le contenu généré par l’IA peut être incorrect.">
            <a:extLst>
              <a:ext uri="{FF2B5EF4-FFF2-40B4-BE49-F238E27FC236}">
                <a16:creationId xmlns:a16="http://schemas.microsoft.com/office/drawing/2014/main" id="{99C659A4-68F0-58D5-F7D0-AF48B168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57" y="1133415"/>
            <a:ext cx="9776780" cy="2383536"/>
          </a:xfrm>
          <a:prstGeom prst="rect">
            <a:avLst/>
          </a:prstGeom>
        </p:spPr>
      </p:pic>
      <p:pic>
        <p:nvPicPr>
          <p:cNvPr id="6" name="Image 9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FE54C144-3E33-CA62-3365-51AE42837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664" y="3680174"/>
            <a:ext cx="8804366" cy="317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98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ABDE-D5FB-F080-4E28-3E5EE27A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6D2343-D787-5C34-F78B-3D8030918C3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42DBA-F43D-416D-0B9A-4B3961AA14F8}"/>
              </a:ext>
            </a:extLst>
          </p:cNvPr>
          <p:cNvSpPr txBox="1"/>
          <p:nvPr/>
        </p:nvSpPr>
        <p:spPr>
          <a:xfrm>
            <a:off x="457200" y="274320"/>
            <a:ext cx="1723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Example </a:t>
            </a:r>
          </a:p>
        </p:txBody>
      </p:sp>
      <p:pic>
        <p:nvPicPr>
          <p:cNvPr id="5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1583E75-C72A-7D42-B809-F2130B0B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245" y="1133415"/>
            <a:ext cx="10185510" cy="557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6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CB23-7A1B-E48D-6BCD-F90673BD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8F19AB-2FF7-6AE2-8F6B-F156E9A1719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D4782-B6B8-A25A-DCB3-70E933C66A85}"/>
              </a:ext>
            </a:extLst>
          </p:cNvPr>
          <p:cNvSpPr txBox="1"/>
          <p:nvPr/>
        </p:nvSpPr>
        <p:spPr>
          <a:xfrm>
            <a:off x="457200" y="274320"/>
            <a:ext cx="1723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Example </a:t>
            </a:r>
          </a:p>
        </p:txBody>
      </p:sp>
      <p:pic>
        <p:nvPicPr>
          <p:cNvPr id="4" name="Image 6" descr="Une image contenant texte, capture d’écran, Police, algèbre&#10;&#10;Le contenu généré par l’IA peut être incorrect.">
            <a:extLst>
              <a:ext uri="{FF2B5EF4-FFF2-40B4-BE49-F238E27FC236}">
                <a16:creationId xmlns:a16="http://schemas.microsoft.com/office/drawing/2014/main" id="{0D7FEC04-F353-2318-C3B4-78A4DC7E3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382" y="1174047"/>
            <a:ext cx="9886374" cy="568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4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4715-39F9-17EF-3D53-3D344D6F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B5932C-990C-BDFF-1089-178CAB628C1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592C9-AB7C-BD33-EB54-3B45D92088D4}"/>
              </a:ext>
            </a:extLst>
          </p:cNvPr>
          <p:cNvSpPr txBox="1"/>
          <p:nvPr/>
        </p:nvSpPr>
        <p:spPr>
          <a:xfrm>
            <a:off x="457200" y="274320"/>
            <a:ext cx="1723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Example </a:t>
            </a:r>
          </a:p>
        </p:txBody>
      </p:sp>
      <p:pic>
        <p:nvPicPr>
          <p:cNvPr id="5" name="Image 5" descr="Une image contenant texte, Police, capture d’écran, algèbre&#10;&#10;Le contenu généré par l’IA peut être incorrect.">
            <a:extLst>
              <a:ext uri="{FF2B5EF4-FFF2-40B4-BE49-F238E27FC236}">
                <a16:creationId xmlns:a16="http://schemas.microsoft.com/office/drawing/2014/main" id="{C8EB06A3-5B63-C3D7-EE1D-FB58F7756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266" y="1133415"/>
            <a:ext cx="8185162" cy="3031088"/>
          </a:xfrm>
          <a:prstGeom prst="rect">
            <a:avLst/>
          </a:prstGeom>
        </p:spPr>
      </p:pic>
      <p:pic>
        <p:nvPicPr>
          <p:cNvPr id="6" name="Image 8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6C591F2-BBD1-486B-0416-EBA68E37F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419" y="3989472"/>
            <a:ext cx="7424324" cy="1288520"/>
          </a:xfrm>
          <a:prstGeom prst="rect">
            <a:avLst/>
          </a:prstGeom>
        </p:spPr>
      </p:pic>
      <p:pic>
        <p:nvPicPr>
          <p:cNvPr id="7" name="Image 10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C27A9E80-8FAA-869A-767D-10F3DCD47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826" y="5397678"/>
            <a:ext cx="6712568" cy="146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48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45FB-C8A6-F8DE-B000-5E05047F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2DB99F-86A8-91CD-FBAE-1C368BB4738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1EAC1-A9EB-D3BC-E2C8-AA2C7CC7E4DC}"/>
              </a:ext>
            </a:extLst>
          </p:cNvPr>
          <p:cNvSpPr txBox="1"/>
          <p:nvPr/>
        </p:nvSpPr>
        <p:spPr>
          <a:xfrm>
            <a:off x="457200" y="274320"/>
            <a:ext cx="628370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AF8F5"/>
                </a:solidFill>
              </a:defRPr>
            </a:pPr>
            <a:r>
              <a:rPr lang="fr-FR" sz="3200" b="1" dirty="0"/>
              <a:t>Optimisation des performances HPL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6CB14-3DED-7959-F660-DB3D854873DA}"/>
              </a:ext>
            </a:extLst>
          </p:cNvPr>
          <p:cNvSpPr txBox="1"/>
          <p:nvPr/>
        </p:nvSpPr>
        <p:spPr>
          <a:xfrm>
            <a:off x="568389" y="1178895"/>
            <a:ext cx="37851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Taille du bloc (NB)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8D206-7AD8-3734-3831-0476A18340B7}"/>
              </a:ext>
            </a:extLst>
          </p:cNvPr>
          <p:cNvSpPr txBox="1"/>
          <p:nvPr/>
        </p:nvSpPr>
        <p:spPr>
          <a:xfrm>
            <a:off x="596281" y="1626021"/>
            <a:ext cx="10885969" cy="117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lang="fr-FR" sz="2000" dirty="0"/>
              <a:t>Dépend de l’architecture CPU (</a:t>
            </a:r>
            <a:r>
              <a:rPr lang="fr-FR" sz="2000" dirty="0" err="1"/>
              <a:t>Broadwell</a:t>
            </a:r>
            <a:r>
              <a:rPr lang="fr-FR" sz="2000" dirty="0"/>
              <a:t>, </a:t>
            </a:r>
            <a:r>
              <a:rPr lang="fr-FR" sz="2000" dirty="0" err="1"/>
              <a:t>Skylake</a:t>
            </a:r>
            <a:r>
              <a:rPr lang="fr-FR" sz="2000" dirty="0"/>
              <a:t>…).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lang="en-US" sz="2000" dirty="0"/>
              <a:t>NB = 192 pour Broadwell, NB = 384 pour Skylake.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lang="fr-FR" sz="2000" dirty="0"/>
              <a:t>Le bloc NB détermine comment la matrice est découpée pour le calcul local et les communications.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CC0B1-E736-D6E0-F226-692AA7AC5581}"/>
              </a:ext>
            </a:extLst>
          </p:cNvPr>
          <p:cNvSpPr txBox="1"/>
          <p:nvPr/>
        </p:nvSpPr>
        <p:spPr>
          <a:xfrm>
            <a:off x="596281" y="2950498"/>
            <a:ext cx="53763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Grille de processus (P × Q)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DC736-267F-599E-499C-F2C3D749EB3B}"/>
              </a:ext>
            </a:extLst>
          </p:cNvPr>
          <p:cNvSpPr txBox="1"/>
          <p:nvPr/>
        </p:nvSpPr>
        <p:spPr>
          <a:xfrm>
            <a:off x="605350" y="3422240"/>
            <a:ext cx="10733210" cy="117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lang="fr-FR" sz="2000" dirty="0">
                <a:solidFill>
                  <a:srgbClr val="282828"/>
                </a:solidFill>
              </a:rPr>
              <a:t>Le produit P × Q = nombre de processus MPI.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lang="fr-FR" sz="2000" dirty="0">
                <a:solidFill>
                  <a:srgbClr val="282828"/>
                </a:solidFill>
              </a:rPr>
              <a:t>Les processus sont disposés en grille pour répartir les blocs de la matrice.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solidFill>
                  <a:srgbClr val="282828"/>
                </a:solidFill>
              </a:defRPr>
            </a:pPr>
            <a:r>
              <a:rPr lang="fr-FR" sz="2000" dirty="0">
                <a:solidFill>
                  <a:srgbClr val="282828"/>
                </a:solidFill>
              </a:rPr>
              <a:t>Permet un équilibrage de charge optimal et réduit la communication.</a:t>
            </a:r>
            <a:endParaRPr sz="2000" dirty="0">
              <a:solidFill>
                <a:srgbClr val="28282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883955-A22D-955B-4AB7-4BC182025294}"/>
                  </a:ext>
                </a:extLst>
              </p:cNvPr>
              <p:cNvSpPr txBox="1"/>
              <p:nvPr/>
            </p:nvSpPr>
            <p:spPr>
              <a:xfrm>
                <a:off x="442139" y="5200195"/>
                <a:ext cx="11040111" cy="1677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 sz="1300">
                    <a:solidFill>
                      <a:srgbClr val="282828"/>
                    </a:solidFill>
                  </a:defRPr>
                </a:pPr>
                <a:r>
                  <a:rPr lang="fr-FR" sz="2000" dirty="0">
                    <a:solidFill>
                      <a:srgbClr val="282828"/>
                    </a:solidFill>
                  </a:rPr>
                  <a:t>Dépend de la mémoire disponible : chaque élément double </a:t>
                </a:r>
                <a:r>
                  <a:rPr lang="fr-FR" sz="2000" dirty="0" err="1">
                    <a:solidFill>
                      <a:srgbClr val="282828"/>
                    </a:solidFill>
                  </a:rPr>
                  <a:t>precision</a:t>
                </a:r>
                <a:r>
                  <a:rPr lang="fr-FR" sz="2000" dirty="0">
                    <a:solidFill>
                      <a:srgbClr val="282828"/>
                    </a:solidFill>
                  </a:rPr>
                  <a:t> = 8 bytes.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 sz="1300">
                    <a:solidFill>
                      <a:srgbClr val="282828"/>
                    </a:solidFill>
                  </a:defRPr>
                </a:pPr>
                <a:r>
                  <a:rPr lang="fr-FR" sz="2000" dirty="0">
                    <a:solidFill>
                      <a:srgbClr val="282828"/>
                    </a:solidFill>
                  </a:rPr>
                  <a:t>Mémoire totale ≈ N² × 8 × α, avec α ≈ 0.8–0.92 pour utiliser 80–92% de la mémoire. Donc la formule de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T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T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T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ar-TN">
                                <a:latin typeface="Cambria Math" panose="02040503050406030204" pitchFamily="18" charset="0"/>
                              </a:rPr>
                              <m:t>⋅#</m:t>
                            </m:r>
                            <m:r>
                              <m:rPr>
                                <m:nor/>
                              </m:rPr>
                              <a:rPr lang="fr-FR" i="1"/>
                              <m:t>Nodes</m:t>
                            </m:r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nor/>
                              </m:rPr>
                              <a:rPr lang="fr-FR" i="1"/>
                              <m:t>RAMsize</m:t>
                            </m:r>
                            <m:r>
                              <m:rPr>
                                <m:nor/>
                              </m:rPr>
                              <a:rPr lang="fr-FR" i="1"/>
                              <m:t> (</m:t>
                            </m:r>
                            <m:r>
                              <m:rPr>
                                <m:nor/>
                              </m:rPr>
                              <a:rPr lang="fr-FR" i="1"/>
                              <m:t>GiB</m:t>
                            </m:r>
                            <m:r>
                              <m:rPr>
                                <m:nor/>
                              </m:rPr>
                              <a:rPr lang="fr-FR" i="1"/>
                              <m:t>)</m:t>
                            </m:r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ar-T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TN">
                                    <a:latin typeface="Cambria Math" panose="02040503050406030204" pitchFamily="18" charset="0"/>
                                  </a:rPr>
                                  <m:t>1024</m:t>
                                </m:r>
                              </m:e>
                              <m:sup>
                                <m:r>
                                  <a:rPr lang="ar-TN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ar-TN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</m:oMath>
                </a14:m>
                <a:endParaRPr lang="ar-TN" sz="2000" b="0" dirty="0"/>
              </a:p>
              <a:p>
                <a:pPr>
                  <a:lnSpc>
                    <a:spcPct val="120000"/>
                  </a:lnSpc>
                  <a:defRPr sz="1300">
                    <a:solidFill>
                      <a:srgbClr val="282828"/>
                    </a:solidFill>
                  </a:defRPr>
                </a:pPr>
                <a:r>
                  <a:rPr lang="fr-FR" sz="2000" dirty="0">
                    <a:solidFill>
                      <a:srgbClr val="282828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883955-A22D-955B-4AB7-4BC182025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39" y="5200195"/>
                <a:ext cx="11040111" cy="1677832"/>
              </a:xfrm>
              <a:prstGeom prst="rect">
                <a:avLst/>
              </a:prstGeom>
              <a:blipFill>
                <a:blip r:embed="rId3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5">
            <a:extLst>
              <a:ext uri="{FF2B5EF4-FFF2-40B4-BE49-F238E27FC236}">
                <a16:creationId xmlns:a16="http://schemas.microsoft.com/office/drawing/2014/main" id="{4E26D087-9651-457A-435F-703514DE5265}"/>
              </a:ext>
            </a:extLst>
          </p:cNvPr>
          <p:cNvSpPr txBox="1"/>
          <p:nvPr/>
        </p:nvSpPr>
        <p:spPr>
          <a:xfrm>
            <a:off x="596281" y="4709414"/>
            <a:ext cx="46029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35"/>
                </a:solidFill>
              </a:defRPr>
            </a:pPr>
            <a:r>
              <a:rPr lang="fr-FR" sz="3000" b="1" dirty="0">
                <a:solidFill>
                  <a:srgbClr val="FF6B35"/>
                </a:solidFill>
              </a:rPr>
              <a:t>Taille du problème (N)</a:t>
            </a:r>
            <a:endParaRPr sz="3000" b="1" dirty="0">
              <a:solidFill>
                <a:srgbClr val="FF6B35"/>
              </a:solidFill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441FF238-619C-5244-BB52-784A5B8B1C5F}"/>
              </a:ext>
            </a:extLst>
          </p:cNvPr>
          <p:cNvSpPr/>
          <p:nvPr/>
        </p:nvSpPr>
        <p:spPr>
          <a:xfrm>
            <a:off x="441519" y="1434159"/>
            <a:ext cx="135510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980E634-D700-67A7-E834-B6F96DB41591}"/>
              </a:ext>
            </a:extLst>
          </p:cNvPr>
          <p:cNvSpPr/>
          <p:nvPr/>
        </p:nvSpPr>
        <p:spPr>
          <a:xfrm>
            <a:off x="437771" y="3172633"/>
            <a:ext cx="135510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27572451-1A44-CA2E-151C-F9111C90D39C}"/>
              </a:ext>
            </a:extLst>
          </p:cNvPr>
          <p:cNvSpPr/>
          <p:nvPr/>
        </p:nvSpPr>
        <p:spPr>
          <a:xfrm>
            <a:off x="432546" y="4931549"/>
            <a:ext cx="135510" cy="1097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00126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Configuration </a:t>
            </a:r>
            <a:r>
              <a:rPr dirty="0" err="1"/>
              <a:t>Expérimentale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Plateforme de Test</a:t>
            </a:r>
          </a:p>
          <a:p>
            <a:pPr>
              <a:spcAft>
                <a:spcPts val="600"/>
              </a:spcAft>
              <a:defRPr sz="1800"/>
            </a:pPr>
            <a:r>
              <a:t>• Machine : ASUS Zephyrus G14 (2020)</a:t>
            </a:r>
          </a:p>
          <a:p>
            <a:pPr>
              <a:spcAft>
                <a:spcPts val="600"/>
              </a:spcAft>
              <a:defRPr sz="1800"/>
            </a:pPr>
            <a:r>
              <a:t>• CPU : AMD Ryzen 9 4900HS (8 coeurs / 16 threads)</a:t>
            </a:r>
          </a:p>
          <a:p>
            <a:pPr>
              <a:spcAft>
                <a:spcPts val="600"/>
              </a:spcAft>
              <a:defRPr sz="1800"/>
            </a:pPr>
            <a:r>
              <a:t>• RAM : 32 Go</a:t>
            </a:r>
          </a:p>
          <a:p>
            <a:pPr>
              <a:spcAft>
                <a:spcPts val="600"/>
              </a:spcAft>
              <a:defRPr sz="1800"/>
            </a:pPr>
            <a:r>
              <a:t>• OS : Ubuntu 22.04 via WSL2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Logiciels</a:t>
            </a:r>
          </a:p>
          <a:p>
            <a:pPr>
              <a:spcAft>
                <a:spcPts val="600"/>
              </a:spcAft>
              <a:defRPr sz="1800"/>
            </a:pPr>
            <a:r>
              <a:t>• HPL version 2.3</a:t>
            </a:r>
          </a:p>
          <a:p>
            <a:pPr>
              <a:spcAft>
                <a:spcPts val="600"/>
              </a:spcAft>
              <a:defRPr sz="1800"/>
            </a:pPr>
            <a:r>
              <a:t>• OpenMPI (communication inter-processus)</a:t>
            </a:r>
          </a:p>
          <a:p>
            <a:pPr>
              <a:spcAft>
                <a:spcPts val="600"/>
              </a:spcAft>
              <a:defRPr sz="1800"/>
            </a:pPr>
            <a:r>
              <a:t>• OpenBLAS (bibliotheque BLAS)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Parametres HPL</a:t>
            </a:r>
          </a:p>
          <a:p>
            <a:pPr>
              <a:spcAft>
                <a:spcPts val="600"/>
              </a:spcAft>
              <a:defRPr sz="1800"/>
            </a:pPr>
            <a:r>
              <a:t>• NB = 128 et 192 (tailles de bloc testees)</a:t>
            </a:r>
          </a:p>
          <a:p>
            <a:pPr>
              <a:spcAft>
                <a:spcPts val="600"/>
              </a:spcAft>
              <a:defRPr sz="1800"/>
            </a:pPr>
            <a:r>
              <a:t>• P x Q = 2 x 4 (grille de 8 processus)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 err="1"/>
              <a:t>Resultats</a:t>
            </a:r>
            <a:r>
              <a:rPr dirty="0"/>
              <a:t> des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Tableau des Resultats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/>
            </a:pPr>
            <a:r>
              <a:t>• N=10 000, NB=192 : 15.7 GFLOPS (42s) - VALIDE</a:t>
            </a:r>
          </a:p>
          <a:p>
            <a:pPr>
              <a:spcAft>
                <a:spcPts val="600"/>
              </a:spcAft>
              <a:defRPr sz="1800"/>
            </a:pPr>
            <a:r>
              <a:t>• N=20 000, NB=192 : 41.0 GFLOPS (2min 10s) - VALIDE</a:t>
            </a:r>
          </a:p>
          <a:p>
            <a:pPr>
              <a:spcAft>
                <a:spcPts val="600"/>
              </a:spcAft>
              <a:defRPr sz="1800"/>
            </a:pPr>
            <a:r>
              <a:t>• N=30 000, NB=192 : 38.2 GFLOPS (7min 51s) - VALIDE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• N=30 000, NB=128 : 44.2 GFLOPS (6min 48s) - MEILLEUR!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Observations Cles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Tous les tests VALIDES (PASSED)</a:t>
            </a:r>
          </a:p>
          <a:p>
            <a:pPr>
              <a:spcAft>
                <a:spcPts val="600"/>
              </a:spcAft>
              <a:defRPr sz="1800"/>
            </a:pPr>
            <a:r>
              <a:t>• GFLOPS augmente avec N (meilleur ratio calcul/comm.)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Baisse a N=30K/NB=192 due au thermal throttling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Tuning NB: +15.6% avec NB=128 vs NB=192</a:t>
            </a:r>
          </a:p>
        </p:txBody>
      </p:sp>
      <p:pic>
        <p:nvPicPr>
          <p:cNvPr id="5" name="Picture 4" descr="graphique4_tableau.png"/>
          <p:cNvPicPr>
            <a:picLocks noChangeAspect="1"/>
          </p:cNvPicPr>
          <p:nvPr/>
        </p:nvPicPr>
        <p:blipFill>
          <a:blip r:embed="rId3"/>
          <a:srcRect l="7422" t="-1" r="7330" b="23180"/>
          <a:stretch>
            <a:fillRect/>
          </a:stretch>
        </p:blipFill>
        <p:spPr>
          <a:xfrm>
            <a:off x="5732208" y="2786650"/>
            <a:ext cx="6410632" cy="20606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Evolution de la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Tendance </a:t>
            </a:r>
            <a:r>
              <a:rPr dirty="0" err="1"/>
              <a:t>Observee</a:t>
            </a:r>
            <a:endParaRPr dirty="0"/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/>
              <a:t>• N=10K : 15.7 GFLOPS (reference)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N=20K : 41.0 GFLOPS (+161%)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rPr dirty="0"/>
              <a:t>• N=30K, NB=192 : 38.2 GFLOPS (throttling)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rPr dirty="0"/>
              <a:t>• N=30K, NB=128 : 44.2 GFLOPS (</a:t>
            </a:r>
            <a:r>
              <a:rPr dirty="0" err="1"/>
              <a:t>optimis</a:t>
            </a:r>
            <a:r>
              <a:rPr lang="fr-FR" b="1" dirty="0"/>
              <a:t>é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Explication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Plus N est grand, </a:t>
            </a:r>
            <a:r>
              <a:rPr dirty="0" err="1"/>
              <a:t>meilleur</a:t>
            </a:r>
            <a:r>
              <a:rPr dirty="0"/>
              <a:t> ratio </a:t>
            </a:r>
            <a:r>
              <a:rPr dirty="0" err="1"/>
              <a:t>calcul</a:t>
            </a:r>
            <a:r>
              <a:rPr dirty="0"/>
              <a:t>/comm.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Le tuning de NB </a:t>
            </a:r>
            <a:r>
              <a:rPr dirty="0" err="1"/>
              <a:t>recup</a:t>
            </a:r>
            <a:r>
              <a:rPr lang="fr-FR" dirty="0"/>
              <a:t>e</a:t>
            </a:r>
            <a:r>
              <a:rPr dirty="0"/>
              <a:t>r</a:t>
            </a:r>
            <a:r>
              <a:rPr lang="fr-FR" dirty="0"/>
              <a:t>e</a:t>
            </a:r>
            <a:r>
              <a:rPr dirty="0"/>
              <a:t> +15.6% de perf.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Thermal throttling </a:t>
            </a:r>
            <a:r>
              <a:rPr dirty="0" err="1"/>
              <a:t>apres</a:t>
            </a:r>
            <a:r>
              <a:rPr dirty="0"/>
              <a:t> ~5min de </a:t>
            </a:r>
            <a:r>
              <a:rPr dirty="0" err="1"/>
              <a:t>calcul</a:t>
            </a:r>
            <a:endParaRPr dirty="0"/>
          </a:p>
        </p:txBody>
      </p:sp>
      <p:pic>
        <p:nvPicPr>
          <p:cNvPr id="5" name="Picture 4" descr="graphique3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627" y="1625823"/>
            <a:ext cx="6970392" cy="37575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 err="1"/>
              <a:t>Analyse</a:t>
            </a:r>
            <a:r>
              <a:rPr dirty="0"/>
              <a:t> de </a:t>
            </a:r>
            <a:r>
              <a:rPr dirty="0" err="1"/>
              <a:t>l'Efficacite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Calcul de l'Efficacite</a:t>
            </a:r>
          </a:p>
          <a:p>
            <a:pPr>
              <a:spcAft>
                <a:spcPts val="600"/>
              </a:spcAft>
              <a:defRPr sz="1800"/>
            </a:pPr>
            <a:r>
              <a:t>• Efficacite = GFLOPS obtenus / GFLOPS theoriques x 100%</a:t>
            </a:r>
          </a:p>
          <a:p>
            <a:pPr>
              <a:spcAft>
                <a:spcPts val="600"/>
              </a:spcAft>
              <a:defRPr sz="1800"/>
            </a:pPr>
            <a:r>
              <a:t>• Pic theorique Ryzen 9: ~400 GFLOPS (estimation)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Meilleur resultat: 44.2 GFLOPS = Efficacite ~11%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Pourquoi seulement 11% ?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WSL2: overhead de virtualisation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OpenBLAS: moins optimise qu'Intel MKL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Laptop: limites thermiques vs serveur HPC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Reference</a:t>
            </a:r>
          </a:p>
          <a:p>
            <a:pPr>
              <a:spcAft>
                <a:spcPts val="600"/>
              </a:spcAft>
              <a:defRPr sz="1800"/>
            </a:pPr>
            <a:r>
              <a:t>• Sur cluster HPC reel: 70-85% d'efficacite attendue</a:t>
            </a:r>
          </a:p>
        </p:txBody>
      </p:sp>
      <p:pic>
        <p:nvPicPr>
          <p:cNvPr id="5" name="Picture 4" descr="graphique5_efficac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656" y="1607573"/>
            <a:ext cx="6562460" cy="38788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Observations et </a:t>
            </a:r>
            <a:r>
              <a:rPr dirty="0" err="1"/>
              <a:t>Limites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Ce Qui Fonctionne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• Performance scale avec N jusqu'aux limites thermiques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• Tous les tests passent la validation numerique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• Resultats reproductibles et coherents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• Le tuning NB ameliore significativement les perfs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Limites de Notre Setup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WSL2: couche de virtualisation = overhead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Laptop: refroidissement limite = throttling</a:t>
            </a:r>
          </a:p>
          <a:p>
            <a:pPr>
              <a:spcAft>
                <a:spcPts val="600"/>
              </a:spcAft>
              <a:defRPr sz="1800">
                <a:solidFill>
                  <a:srgbClr val="E67E22"/>
                </a:solidFill>
              </a:defRPr>
            </a:pPr>
            <a:r>
              <a:t>• OpenBLAS: pas optimise pour AMD Ryzen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Pour Ameliorer</a:t>
            </a:r>
          </a:p>
          <a:p>
            <a:pPr>
              <a:spcAft>
                <a:spcPts val="600"/>
              </a:spcAft>
              <a:defRPr sz="1800"/>
            </a:pPr>
            <a:r>
              <a:t>• Cluster HPC dedie avec refroidissement adapte</a:t>
            </a:r>
          </a:p>
          <a:p>
            <a:pPr>
              <a:spcAft>
                <a:spcPts val="600"/>
              </a:spcAft>
              <a:defRPr sz="1800"/>
            </a:pPr>
            <a:r>
              <a:t>• Intel MKL ou AMD BLIS (bibliotheques optimisees)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Ce Qu'on Retient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HPL mesure les GFLOPS via resolution de Ax = b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Algorithme: Decomposition LU avec pivotage partiel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Parallelisation: Distribution 2D block-cyclic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Nos resultats: Valides, coherents avec la theorie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Meilleur Resultat</a:t>
            </a:r>
          </a:p>
          <a:p>
            <a:pPr>
              <a:spcAft>
                <a:spcPts val="600"/>
              </a:spcAft>
              <a:defRPr sz="1800" b="1">
                <a:solidFill>
                  <a:srgbClr val="27AE60"/>
                </a:solidFill>
              </a:defRPr>
            </a:pPr>
            <a:r>
              <a:t>44.2 GFLOPS avec N=30 000 et NB=128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Tendance Cle</a:t>
            </a:r>
          </a:p>
          <a:p>
            <a:pPr>
              <a:spcAft>
                <a:spcPts val="600"/>
              </a:spcAft>
              <a:defRPr sz="1800"/>
            </a:pPr>
            <a:r>
              <a:t>• GFLOPS augmente avec N (meilleur ratio calcul/comm.)</a:t>
            </a:r>
          </a:p>
          <a:p>
            <a:pPr>
              <a:spcAft>
                <a:spcPts val="600"/>
              </a:spcAft>
              <a:defRPr sz="1800"/>
            </a:pPr>
            <a:r>
              <a:t>• Le tuning des parametres est important (+15.6%)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1814</Words>
  <Application>Microsoft Office PowerPoint</Application>
  <PresentationFormat>Widescreen</PresentationFormat>
  <Paragraphs>195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BENMALK Achraf</cp:lastModifiedBy>
  <cp:revision>5</cp:revision>
  <dcterms:created xsi:type="dcterms:W3CDTF">2013-01-27T09:14:16Z</dcterms:created>
  <dcterms:modified xsi:type="dcterms:W3CDTF">2026-01-28T08:42:03Z</dcterms:modified>
  <cp:category/>
</cp:coreProperties>
</file>